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1200" kern="0" dirty="0">
                <a:solidFill>
                  <a:srgbClr val="F8FAFC"/>
                </a:solidFill>
              </a:rPr>
              <a:t>SQL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6B6D4"/>
                </a:solidFill>
              </a:rPr>
              <a:t>Structured Query Language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História • Curiosidades • NoSQL • CRUD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Chave Primária • Chave Estrangeira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4114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Banco de Dados Relacional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📜  HISTÓRIA DO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2471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24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1970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Edgar Codd propõe o modelo relacional na IBM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12471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24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1974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89320" y="1051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Donald Chamberlin e Ray Boyce criam o SEQUEL (precursor do SQL)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35915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1979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Oracle lança o 1º banco de dados SQL comercial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1945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35915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591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1986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2286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SQL se torna padrão ANSI e ISO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59359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93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1992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520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SQL-92 traz grandes melhorias (joins, subqueries...)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00600" y="342900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59359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93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2003+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3520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</a:rPr>
              <a:t>SQL ganha suporte a XML, JSON e recursos analíticos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💡  CURIOSIDADES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Pronuncia-se "Sequel"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Embora seja escrito SQL, o nome original era SEQUEL, e muitos profissionais ainda usam essa pronuncia.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2356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Linguagem universal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SQL é suportado por praticamente todos os bancos relacionais: MySQL, PostgreSQL, Oracle, SQL Server e SQLite.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Top linguagem há décadas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Nos rankings de linguagens de programação, SQL está consistentemente entre as 10 mais usadas no mundo.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2356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Declarativa, não imperativa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3375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</a:rPr>
              <a:t>Você diz O QUÊ quer, não COMO buscar — o otimizador do banco decide o melhor caminho de execução.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🗄️  BANCOS NoSQL — Tipos e Exemplos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28016" cy="1691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📄  Documento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Armazena dados como JSON/BSON. Flexível e sem schema fixo.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Ex: MongoDB, CouchDB, Firestore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128016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🔑  Chave-Valor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Estrutura mais simples: uma chave mapeia para um valor.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Ex: Redis, DynamoDB, Riak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80360"/>
            <a:ext cx="128016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00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📊  Colunar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Otimizado para leitura de grandes volumes por coluna.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Ex: Cassandra, HBase, BigTable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880360"/>
            <a:ext cx="128016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9900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🕸️  Grafo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Relações entre entidades como nós e arestas de um grafo.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Ex: Neo4j, ArangoDB, Amazon Neptune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🔑  CHAVE PRIMÁRIA (Primary Key)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É o campo (ou conjunto de campos) que identifica UNICAMENTE cada registro de uma tabela. Não pode ser NULL nem repetido.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243047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✅  Valor único por linha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32304" y="187452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243047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🚫  Não pode ser NULL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90288" y="187452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243047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1️⃣  Apenas uma PK por tabela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48272" y="187452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243047"/>
          </a:solidFill>
          <a:ln w="12700">
            <a:solidFill>
              <a:srgbClr val="243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🔒  Imutável — não deve mudar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192024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EXEMPLO 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clientes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INT          PRIMARY KEY,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     VARCHAR(100)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VARCHAR(100) UNIQUE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🔗  CHAVE ESTRANGEIRA (Foreign Key)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É um campo em uma tabela que referencia a Chave Primária de outra tabela, criando um relacionamento entre elas (integridade referencial).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74520"/>
            <a:ext cx="34747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CLIENTES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</a:rPr>
              <a:t>🔑 id_cliente (PK)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nome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email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2450592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FK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6360" y="1874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E3A2A"/>
          </a:solidFill>
          <a:ln w="12700">
            <a:solidFill>
              <a:srgbClr val="1E3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874520"/>
            <a:ext cx="356616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PEDIDOS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</a:rPr>
              <a:t>🔑 id_pedido (PK)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2633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🔗 id_cliente (FK)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2971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valor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8595360" cy="1188720"/>
          </a:xfrm>
          <a:prstGeom prst="roundRect">
            <a:avLst>
              <a:gd name="adj" fmla="val 923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EXEMPLO SQL — FOREIGN KEY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pedidos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id_pedido  INT  PRIMARY KEY,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id_cliente INT  REFERENCES clientes(id_cliente),  -- FK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valor      DECIMAL(10,2)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⚡  CRUD — CREATE &amp; INSERT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CREATE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Cria a estrutura de uma tabela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83210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produtos 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INT          PRIMARY KEY AUTO_INCREMENT,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  VARCHAR(100)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preco DECIMAL(10,2)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907792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077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INSERT INTO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Insere novos registros na tabela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337560"/>
            <a:ext cx="8321040" cy="126187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produtos (nome, preco)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('Notebook', 3499.90),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('Mouse', 89.90);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🔍  CRUD — SELECT (Read)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749040" cy="301752"/>
          </a:xfrm>
          <a:prstGeom prst="roundRect">
            <a:avLst>
              <a:gd name="adj" fmla="val 3030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SELECT simples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749040" cy="1161288"/>
          </a:xfrm>
          <a:prstGeom prst="roundRect">
            <a:avLst>
              <a:gd name="adj" fmla="val 94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produtos;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preco FROM produtos;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051560"/>
            <a:ext cx="3749040" cy="301752"/>
          </a:xfrm>
          <a:prstGeom prst="roundRect">
            <a:avLst>
              <a:gd name="adj" fmla="val 3030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515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WHERE — Filtro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463040"/>
            <a:ext cx="3749040" cy="1161288"/>
          </a:xfrm>
          <a:prstGeom prst="roundRect">
            <a:avLst>
              <a:gd name="adj" fmla="val 94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087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preco &gt; 100;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17520"/>
            <a:ext cx="3749040" cy="301752"/>
          </a:xfrm>
          <a:prstGeom prst="roundRect">
            <a:avLst>
              <a:gd name="adj" fmla="val 30303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ORDER BY + LIMIT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429000"/>
            <a:ext cx="3749040" cy="1161288"/>
          </a:xfrm>
          <a:prstGeom prst="roundRect">
            <a:avLst>
              <a:gd name="adj" fmla="val 94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4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preco FROM produtos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preco DESC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17520"/>
            <a:ext cx="3749040" cy="301752"/>
          </a:xfrm>
          <a:prstGeom prst="roundRect">
            <a:avLst>
              <a:gd name="adj" fmla="val 3030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175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JOIN — Relacionar tabelas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429000"/>
            <a:ext cx="3749040" cy="1161288"/>
          </a:xfrm>
          <a:prstGeom prst="roundRect">
            <a:avLst>
              <a:gd name="adj" fmla="val 94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4747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c.nome, p.valor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clientes 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pedidos p ON c.id = p.id_cliente;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✏️  CRUD — UPDATE &amp; DELETE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UPDATE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0241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Atualiza registros existentes (sempre use WHERE!)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8321040" cy="1261872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9047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Atualizar um produto específico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preco = 2999.90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06324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63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DELETE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0815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Remove registros (use WHERE para não apagar tudo!)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502152"/>
            <a:ext cx="8321040" cy="1161288"/>
          </a:xfrm>
          <a:prstGeom prst="roundRect">
            <a:avLst>
              <a:gd name="adj" fmla="val 94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478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Deletar produto pelo 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produtos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📋  RESUMO — CRUD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96112"/>
          </a:xfrm>
          <a:prstGeom prst="roundRect">
            <a:avLst>
              <a:gd name="adj" fmla="val 122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731520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CREATE / INSERT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356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Criar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1078992"/>
            <a:ext cx="4754880" cy="621792"/>
          </a:xfrm>
          <a:prstGeom prst="roundRect">
            <a:avLst>
              <a:gd name="adj" fmla="val 1764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12471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tabela (...) VALUES (...)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896112"/>
          </a:xfrm>
          <a:prstGeom prst="roundRect">
            <a:avLst>
              <a:gd name="adj" fmla="val 122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65960"/>
            <a:ext cx="731520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65960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R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READ / SELECT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4414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Ler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77640" y="2084832"/>
            <a:ext cx="4754880" cy="621792"/>
          </a:xfrm>
          <a:prstGeom prst="roundRect">
            <a:avLst>
              <a:gd name="adj" fmla="val 1764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13055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tabela WHERE 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896112"/>
          </a:xfrm>
          <a:prstGeom prst="roundRect">
            <a:avLst>
              <a:gd name="adj" fmla="val 122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71800"/>
            <a:ext cx="731520" cy="8961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71800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U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097280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UPDATE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447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Atualizar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977640" y="3090672"/>
            <a:ext cx="4754880" cy="621792"/>
          </a:xfrm>
          <a:prstGeom prst="roundRect">
            <a:avLst>
              <a:gd name="adj" fmla="val 1764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13639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tabela SET col=val WHERE ...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977640"/>
            <a:ext cx="8595360" cy="896112"/>
          </a:xfrm>
          <a:prstGeom prst="roundRect">
            <a:avLst>
              <a:gd name="adj" fmla="val 122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77640"/>
            <a:ext cx="731520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77640"/>
            <a:ext cx="731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D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097280" y="4023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DELETE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4531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Deletar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77640" y="4096512"/>
            <a:ext cx="4754880" cy="621792"/>
          </a:xfrm>
          <a:prstGeom prst="roundRect">
            <a:avLst>
              <a:gd name="adj" fmla="val 1764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414223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tabela WHERE ...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🎯  Conclusão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SQL existe há mais de 50 anos e continua essencial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11096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109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911096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Chave Primária garante unicidade; Chave Estrangeira garante integridade referencial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3347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33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CRUD é o coração de qualquer sistema de banco de dados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355848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558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3558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NoSQL complementa o SQL para casos de alta escala e flexibilidade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7822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07822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Conhecer SQL é indispensável para qualquer desenvolvedor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— Da História ao CRUD</dc:title>
  <dc:subject>PptxGenJS Presentation</dc:subject>
  <dc:creator>PptxGenJS</dc:creator>
  <cp:lastModifiedBy>PptxGenJS</cp:lastModifiedBy>
  <cp:revision>1</cp:revision>
  <dcterms:created xsi:type="dcterms:W3CDTF">2026-05-26T20:58:28Z</dcterms:created>
  <dcterms:modified xsi:type="dcterms:W3CDTF">2026-05-26T20:58:28Z</dcterms:modified>
</cp:coreProperties>
</file>