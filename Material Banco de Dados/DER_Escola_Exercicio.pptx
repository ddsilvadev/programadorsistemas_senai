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EXERCÍCIO PRÁTICO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DER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Entidade-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Relacionamento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749040" y="10058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Banco de Dados Escolar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749040" y="17830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exercício didático com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relacionadas por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Estrangeiras (FK)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49040" y="2926080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📋 Aluno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40680" y="2926080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📚 Curso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0" y="2926080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📝 Matrícula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3520440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3520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🔑 PK / FK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40680" y="3520440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3520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🔗 JOIN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9ECEF"/>
                </a:solidFill>
              </a:rPr>
              <a:t>Banco de Dados Relacional  •  SQL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📖  Contexto do Exercício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E9ECE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🏫  CENÁRIO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399032"/>
            <a:ext cx="8001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</a:rPr>
              <a:t>Uma escola precisa de um sistema para registrar alunos, cursos disponíveis e as matrículas dos alunos em cada curso. Um aluno pode se matricular em vários cursos e um curso pode ter vários alunos.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260604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46888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468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Aluno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Guarda os dados pessoais do estudante (nome, e-mail, data de nascimento).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260604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77640" y="246888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468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📚 Curso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1089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Armazena os cursos oferecidos pela escola (nome e carga horária).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2331720"/>
            <a:ext cx="260604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246888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2468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📝 Matrícula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31089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Liga Aluno a Curso. Registra quando o aluno entrou e sua nota final.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94560"/>
                </a:solidFill>
              </a:rPr>
              <a:t>💡  A tabela Matrícula é o coração do exercício — ela usa duas Chaves Estrangeiras!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 DER — Diagrama Entidade-Relacionamento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274320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87552"/>
            <a:ext cx="274320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8755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ALUNO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08176"/>
            <a:ext cx="2743200" cy="338328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</a:rPr>
              <a:t>🔑 id_aluno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874520" y="1408176"/>
            <a:ext cx="1143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</a:rPr>
              <a:t>INT — PK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746504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nome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74520" y="1746504"/>
            <a:ext cx="1143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</a:rPr>
              <a:t>VARCHAR(100)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84832"/>
            <a:ext cx="2743200" cy="338328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84832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email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74520" y="2084832"/>
            <a:ext cx="1143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</a:rPr>
              <a:t>VARCHAR(100)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2423160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dt_nasc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874520" y="2423160"/>
            <a:ext cx="1143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</a:rPr>
              <a:t>DATE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987552"/>
            <a:ext cx="2743200" cy="1472184"/>
          </a:xfrm>
          <a:prstGeom prst="roundRect">
            <a:avLst>
              <a:gd name="adj" fmla="val 4969"/>
            </a:avLst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987552"/>
            <a:ext cx="274320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98755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1408176"/>
            <a:ext cx="2743200" cy="338328"/>
          </a:xfrm>
          <a:prstGeom prst="rect">
            <a:avLst/>
          </a:prstGeom>
          <a:solidFill>
            <a:srgbClr val="F0FFF9"/>
          </a:solidFill>
          <a:ln w="12700">
            <a:solidFill>
              <a:srgbClr val="F0FF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408176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</a:rPr>
              <a:t>🔑 id_curso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18120" y="1408176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</a:rPr>
              <a:t>INT — PK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1746504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nome_curso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18120" y="1746504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</a:rPr>
              <a:t>VARCHAR(100)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2084832"/>
            <a:ext cx="2743200" cy="338328"/>
          </a:xfrm>
          <a:prstGeom prst="rect">
            <a:avLst/>
          </a:prstGeom>
          <a:solidFill>
            <a:srgbClr val="F0FFF9"/>
          </a:solidFill>
          <a:ln w="12700">
            <a:solidFill>
              <a:srgbClr val="F0FF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084832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carga_horaria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818120" y="2084832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</a:rPr>
              <a:t>INT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0" y="251460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514600"/>
            <a:ext cx="274320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5146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MATRICULA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00400" y="2935224"/>
            <a:ext cx="2743200" cy="338328"/>
          </a:xfrm>
          <a:prstGeom prst="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2935224"/>
            <a:ext cx="1600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</a:rPr>
              <a:t>🔑 id_matricula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37760" y="2935224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</a:rPr>
              <a:t>INT — PK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37560" y="3273552"/>
            <a:ext cx="1600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923C"/>
                </a:solidFill>
              </a:rPr>
              <a:t>🔗 id_aluno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37760" y="3273552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</a:rPr>
              <a:t>INT — FK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0" y="3611880"/>
            <a:ext cx="2743200" cy="338328"/>
          </a:xfrm>
          <a:prstGeom prst="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3611880"/>
            <a:ext cx="1600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923C"/>
                </a:solidFill>
              </a:rPr>
              <a:t>🔗 id_curso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937760" y="361188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</a:rPr>
              <a:t>INT — FK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37560" y="3950208"/>
            <a:ext cx="1600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data_matricula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937760" y="3950208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</a:rPr>
              <a:t>DATE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0" y="4288536"/>
            <a:ext cx="2743200" cy="338328"/>
          </a:xfrm>
          <a:prstGeom prst="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4288536"/>
            <a:ext cx="1600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nota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937760" y="4288536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</a:rPr>
              <a:t>DECIMAL(4,1)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0" y="3374136"/>
            <a:ext cx="0" cy="73152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91640" y="1444752"/>
            <a:ext cx="0" cy="1929384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91640" y="3374136"/>
            <a:ext cx="1463040" cy="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0876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88036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</a:rPr>
              <a:t>N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943600" y="1444752"/>
            <a:ext cx="0" cy="201168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89320" y="3456432"/>
            <a:ext cx="0" cy="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89320" y="3456432"/>
            <a:ext cx="0" cy="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89320" y="3456432"/>
            <a:ext cx="0" cy="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0" y="3456432"/>
            <a:ext cx="502920" cy="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43600" y="1444752"/>
            <a:ext cx="0" cy="201168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86400" y="3456432"/>
            <a:ext cx="502920" cy="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8932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</a:rPr>
              <a:t>1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166360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</a:rPr>
              <a:t>N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65760" y="470916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7091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🔑 PK — Chave Primária     🔗 FK — Chave Estrangeira     1:N — Um para Muitos     N:N resolvido via tabela Matrícula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✏️  Tarefa 1 — Crie as Tabelas (CREATE TABLE)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10241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Com base no DER, escreva os comandos SQL para criar as três tabelas abaixo: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7276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A) Tabela ALUNO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6276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57D"/>
                </a:solidFill>
              </a:rPr>
              <a:t>Campos: id_aluno (PK, auto-incremento), nome, email, dt_nasc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0116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aluno 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escreva aqui seus campos 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5292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52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B) Tabela CURSO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90779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57D"/>
                </a:solidFill>
              </a:rPr>
              <a:t>Campos: id_curso (PK, auto-incremento), nome_curso, carga_horaria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2004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2918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curso 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escreva aqui seus campos 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8412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133088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33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C) Tabela MATRICULA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</a:rPr>
              <a:t>Campos: id_matricula (PK), id_aluno (FK → aluno), id_curso (FK → curso), data_matricula, nota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52628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4617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matricula 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escreva aqui seus campos e as chaves estrangeiras 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Gabarito — CREATE 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Tabela ALUNO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481328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aluno 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id_aluno  INT          PRIMARY KEY AUTO_INCREMENT,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nome      VARCHAR(100) NOT NULL,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 VARCHAR(100),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dt_nasc   DATE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058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Tabela CURSO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389888"/>
            <a:ext cx="3931920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481328"/>
            <a:ext cx="36576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curso 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id_curso       INT          PRIMARY KEY AUTO_INCREMENT,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nome_curso     VARCHAR(100) NOT NULL,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carga_horaria  INT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788920"/>
            <a:ext cx="3200400" cy="329184"/>
          </a:xfrm>
          <a:prstGeom prst="roundRect">
            <a:avLst>
              <a:gd name="adj" fmla="val 22222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889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Tabela MATRICULA  (com as 2 FKs!)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172968"/>
            <a:ext cx="8321040" cy="1874520"/>
          </a:xfrm>
          <a:prstGeom prst="roundRect">
            <a:avLst>
              <a:gd name="adj" fmla="val 487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264408"/>
            <a:ext cx="8046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matricula 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id_matricula   INT  PRIMARY KEY AUTO_INCREMENT,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id_aluno       INT  NOT NULL,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id_curso       INT  NOT NULL,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data_matricula DATE,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nota           DECIMAL(4,1),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(id_aluno) REFERENCES aluno(id_aluno),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(id_curso) REFERENCES curso(id_curso)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5093208"/>
            <a:ext cx="8321040" cy="347472"/>
          </a:xfrm>
          <a:prstGeom prst="roundRect">
            <a:avLst>
              <a:gd name="adj" fmla="val 21053"/>
            </a:avLst>
          </a:prstGeom>
          <a:solidFill>
            <a:srgbClr val="FEF9C3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0932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⚠️  As tabelas pai (aluno e curso) devem ser criadas ANTES de matricula, pois ela referencia as outras.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📥  Tarefa 2 — Inserir Dados (INSERT INTO)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Insira os dados abaixo usando comandos INSERT INTO: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81912"/>
            <a:ext cx="2011680" cy="301752"/>
          </a:xfrm>
          <a:prstGeom prst="roundRect">
            <a:avLst>
              <a:gd name="adj" fmla="val 24242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8191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Alunos a inserir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581912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'Ana Silva',   'ana@email.com',   '2003-05-10')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'Bruno Lima',  'bruno@email.com', '2002-11-22')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'Carla Rocha', 'carla@email.com', '2004-01-08')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770632"/>
            <a:ext cx="2011680" cy="301752"/>
          </a:xfrm>
          <a:prstGeom prst="roundRect">
            <a:avLst>
              <a:gd name="adj" fmla="val 24242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7063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Cursos a inserir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2770632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'Banco de Dados', 60)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'Redes',          40)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'Programação',    80)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959352"/>
            <a:ext cx="2011680" cy="301752"/>
          </a:xfrm>
          <a:prstGeom prst="roundRect">
            <a:avLst>
              <a:gd name="adj" fmla="val 24242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5935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Matrículas a inserir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3959352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1, 1, '2024-02-01', 8.5)   -- Ana em BD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1, 3, '2024-02-01', 7.0)   -- Ana em Prog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2, 2, '2024-02-05', 9.0)   -- Bruno em Redes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507492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074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460"/>
                </a:solidFill>
              </a:rPr>
              <a:t>🧠  Lembre-se: o id_aluno e id_curso inseridos na Matrícula devem existir nas tabelas correspondentes!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Tarefa 3 — Consultas com JOIN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Escreva os SELECT abaixo. Use JOIN para cruzar as tabelas: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Consulta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6002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</a:rPr>
              <a:t>Liste o nome do aluno e o nome do curso de todas as matrículas.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02082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</a:rPr>
              <a:t>💡 Dica: JOIN aluno + matricula + curso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84124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432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Consulta 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7432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</a:rPr>
              <a:t>Mostre os alunos matriculados com nota maior que 8.0.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16382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</a:rPr>
              <a:t>💡 Dica: WHERE nota &gt; 8.0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8862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Consulta 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8862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</a:rPr>
              <a:t>Quantas matrículas cada aluno tem? Use GROUP BY e COUNT.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2920" y="4297680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30682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</a:rPr>
              <a:t>💡 Dica: GROUP BY id_aluno + COUNT(*)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5029200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029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A4B"/>
                </a:solidFill>
              </a:rPr>
              <a:t>🌟  Bônus: Mostre o nome do aluno, o curso e a nota ordenados do maior para o menor (ORDER BY nota DESC).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Gabarito — Consultas SQL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Consulta A — Nome do aluno + curso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a.nome AS aluno, c.nome_curso AS curso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aluno 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matricula m ON a.id_aluno  = m.id_aluno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curso c      ON c.id_curso   = m.id_curso;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395728"/>
            <a:ext cx="2743200" cy="329184"/>
          </a:xfrm>
          <a:prstGeom prst="roundRect">
            <a:avLst>
              <a:gd name="adj" fmla="val 22222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3957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Consulta B — Nota maior que 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779776"/>
            <a:ext cx="8321040" cy="987552"/>
          </a:xfrm>
          <a:prstGeom prst="roundRect">
            <a:avLst>
              <a:gd name="adj" fmla="val 925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871216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a.nome, c.nome_curso, m.nota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aluno 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matricula m ON a.id_aluno = m.id_aluno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curso c      ON c.id_curso  = m.id_curso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m.nota &gt; 8.0;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858768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8587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Consulta C — Matrículas por aluno (GROUP BY)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242816"/>
            <a:ext cx="832104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4334256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a.nome, COUNT(*) AS total_matriculas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aluno 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matricula m ON a.id_aluno = m.id_aluno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a.id_aluno, a.nome;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Resumo — O que aprendemos?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6128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61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2161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</a:rPr>
              <a:t>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Mapa visual das tabelas e seus relacionamentos. Mostra quem se conecta com quem antes de escrever código.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16128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61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77640" y="12161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Chave Primária (PK)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764792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Identifica UNICAMENTE cada linha da tabela. Obrigatória, única, nunca NULL.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16128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161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12161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Chave Estrangeira (FK)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764792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Conecta duas tabelas. O valor deve existir na tabela referenciada — isso se chama integridade referencial.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99008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90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30449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</a:rPr>
              <a:t>Relacionamento N:N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593592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Quando vários alunos podem ter vários cursos. Resolve-se criando uma tabela intermediária (Matrícula).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299008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1B7A4B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990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977640" y="30449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4B"/>
                </a:solidFill>
              </a:rPr>
              <a:t>JOIN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593592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Comando para buscar dados de duas ou mais tabelas ao mesmo tempo, cruzando pelas chaves.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2880360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99008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990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12280" y="30449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Ordem importa!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3593592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Crie primeiro as tabelas pai (Aluno, Curso) e depois a filha (Matrícula) que depende das outras.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8229600" cy="4114800"/>
          </a:xfrm>
          <a:prstGeom prst="roundRect">
            <a:avLst>
              <a:gd name="adj" fmla="val 4444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365760"/>
            <a:ext cx="4572000" cy="502920"/>
          </a:xfrm>
          <a:prstGeom prst="roundRect">
            <a:avLst>
              <a:gd name="adj" fmla="val 21818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🎓  FIM DO EXERCÍCIO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Bom trabalho!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Você praticou: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423160"/>
            <a:ext cx="1691640" cy="438912"/>
          </a:xfrm>
          <a:prstGeom prst="roundRect">
            <a:avLst>
              <a:gd name="adj" fmla="val 20833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231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2423160"/>
            <a:ext cx="1691640" cy="438912"/>
          </a:xfrm>
          <a:prstGeom prst="roundRect">
            <a:avLst>
              <a:gd name="adj" fmla="val 20833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24231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CREATE 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423160"/>
            <a:ext cx="1691640" cy="438912"/>
          </a:xfrm>
          <a:prstGeom prst="roundRect">
            <a:avLst>
              <a:gd name="adj" fmla="val 20833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4231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PRIMARY KEY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37960" y="2423160"/>
            <a:ext cx="1691640" cy="438912"/>
          </a:xfrm>
          <a:prstGeom prst="roundRect">
            <a:avLst>
              <a:gd name="adj" fmla="val 20833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4231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FOREIGN KEY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017520"/>
            <a:ext cx="1691640" cy="438912"/>
          </a:xfrm>
          <a:prstGeom prst="roundRect">
            <a:avLst>
              <a:gd name="adj" fmla="val 20833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0175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INSERT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88920" y="3017520"/>
            <a:ext cx="1691640" cy="438912"/>
          </a:xfrm>
          <a:prstGeom prst="roundRect">
            <a:avLst>
              <a:gd name="adj" fmla="val 20833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30175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SELECT + JOIN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1691640" cy="438912"/>
          </a:xfrm>
          <a:prstGeom prst="roundRect">
            <a:avLst>
              <a:gd name="adj" fmla="val 20833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0175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GROUP BY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C757D"/>
                </a:solidFill>
              </a:rPr>
              <a:t>"Quem entende de banco de dados, entende de qualquer sistema."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Banco de Dados Relacional  •  SQL  •  DER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 — Banco de Dados Escolar</dc:title>
  <dc:subject>PptxGenJS Presentation</dc:subject>
  <dc:creator>PptxGenJS</dc:creator>
  <cp:lastModifiedBy>PptxGenJS</cp:lastModifiedBy>
  <cp:revision>1</cp:revision>
  <dcterms:created xsi:type="dcterms:W3CDTF">2026-05-28T20:55:09Z</dcterms:created>
  <dcterms:modified xsi:type="dcterms:W3CDTF">2026-05-28T20:55:09Z</dcterms:modified>
</cp:coreProperties>
</file>